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7910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31C"/>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7315200" cy="365760"/>
          </a:xfrm>
          <a:prstGeom prst="rect">
            <a:avLst/>
          </a:prstGeom>
          <a:noFill/>
          <a:ln/>
        </p:spPr>
        <p:txBody>
          <a:bodyPr wrap="square" lIns="0" tIns="0" rIns="0" bIns="0" rtlCol="0" anchor="ctr"/>
          <a:lstStyle/>
          <a:p>
            <a:pPr marL="0" indent="0">
              <a:buNone/>
            </a:pPr>
            <a:r>
              <a:rPr lang="en-US" sz="1600" b="1" kern="0" spc="400" dirty="0">
                <a:solidFill>
                  <a:srgbClr val="7C8CFF"/>
                </a:solidFill>
                <a:latin typeface="Calibri" pitchFamily="34" charset="0"/>
                <a:ea typeface="Calibri" pitchFamily="34" charset="-122"/>
                <a:cs typeface="Calibri" pitchFamily="34" charset="-120"/>
              </a:rPr>
              <a:t>PYTHON MINI PROJECT</a:t>
            </a:r>
            <a:endParaRPr lang="en-US" sz="1600" dirty="0"/>
          </a:p>
        </p:txBody>
      </p:sp>
      <p:sp>
        <p:nvSpPr>
          <p:cNvPr id="3" name="Text 1"/>
          <p:cNvSpPr txBox="1"/>
          <p:nvPr/>
        </p:nvSpPr>
        <p:spPr>
          <a:xfrm>
            <a:off x="640080" y="1005840"/>
            <a:ext cx="786384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Typing </a:t>
            </a:r>
            <a:r>
              <a:rPr lang="en-US" sz="4800" b="1" dirty="0">
                <a:solidFill>
                  <a:srgbClr val="7C8CFF"/>
                </a:solidFill>
                <a:latin typeface="Cambria" pitchFamily="34" charset="0"/>
                <a:ea typeface="Cambria" pitchFamily="34" charset="-122"/>
                <a:cs typeface="Cambria" pitchFamily="34" charset="-120"/>
              </a:rPr>
              <a:t>Speed Tester</a:t>
            </a:r>
            <a:endParaRPr lang="en-US" sz="4800" dirty="0"/>
          </a:p>
        </p:txBody>
      </p:sp>
      <p:sp>
        <p:nvSpPr>
          <p:cNvPr id="4" name="Text 2"/>
          <p:cNvSpPr txBox="1"/>
          <p:nvPr/>
        </p:nvSpPr>
        <p:spPr>
          <a:xfrm>
            <a:off x="640080" y="2011680"/>
            <a:ext cx="5120640" cy="1097280"/>
          </a:xfrm>
          <a:prstGeom prst="rect">
            <a:avLst/>
          </a:prstGeom>
          <a:noFill/>
          <a:ln/>
        </p:spPr>
        <p:txBody>
          <a:bodyPr wrap="square" lIns="0" tIns="0" rIns="0" bIns="0" rtlCol="0" anchor="t"/>
          <a:lstStyle/>
          <a:p>
            <a:pPr marL="0" indent="0">
              <a:buNone/>
            </a:pPr>
            <a:r>
              <a:rPr lang="en-US" sz="1600" dirty="0">
                <a:solidFill>
                  <a:srgbClr val="C9CFEA"/>
                </a:solidFill>
                <a:latin typeface="Calibri" pitchFamily="34" charset="0"/>
                <a:ea typeface="Calibri" pitchFamily="34" charset="-122"/>
                <a:cs typeface="Calibri" pitchFamily="34" charset="-120"/>
              </a:rPr>
              <a:t>A Tkinter desktop app that measures typing speed (WPM) and accuracy in real time. The timer starts on the first keystroke and every character is coloured green or red as it is typed.</a:t>
            </a:r>
            <a:endParaRPr lang="en-US" sz="1600" dirty="0"/>
          </a:p>
        </p:txBody>
      </p:sp>
      <p:sp>
        <p:nvSpPr>
          <p:cNvPr id="5" name="Shape 3"/>
          <p:cNvSpPr/>
          <p:nvPr/>
        </p:nvSpPr>
        <p:spPr>
          <a:xfrm>
            <a:off x="640080" y="3383280"/>
            <a:ext cx="1417320" cy="1005840"/>
          </a:xfrm>
          <a:prstGeom prst="roundRect">
            <a:avLst>
              <a:gd name="adj" fmla="val 9091"/>
            </a:avLst>
          </a:prstGeom>
          <a:solidFill>
            <a:srgbClr val="1B1F2E"/>
          </a:solidFill>
          <a:ln w="12700">
            <a:solidFill>
              <a:srgbClr val="2A3045"/>
            </a:solidFill>
            <a:prstDash val="solid"/>
          </a:ln>
        </p:spPr>
      </p:sp>
      <p:sp>
        <p:nvSpPr>
          <p:cNvPr id="6" name="Text 4"/>
          <p:cNvSpPr txBox="1"/>
          <p:nvPr/>
        </p:nvSpPr>
        <p:spPr>
          <a:xfrm>
            <a:off x="777240" y="3456432"/>
            <a:ext cx="1188720" cy="274320"/>
          </a:xfrm>
          <a:prstGeom prst="rect">
            <a:avLst/>
          </a:prstGeom>
          <a:noFill/>
          <a:ln/>
        </p:spPr>
        <p:txBody>
          <a:bodyPr wrap="square" lIns="0" tIns="0" rIns="0" bIns="0" rtlCol="0" anchor="ctr"/>
          <a:lstStyle/>
          <a:p>
            <a:pPr marL="0" indent="0">
              <a:buNone/>
            </a:pPr>
            <a:r>
              <a:rPr lang="en-US" sz="1100" b="1" dirty="0">
                <a:solidFill>
                  <a:srgbClr val="8B93B3"/>
                </a:solidFill>
                <a:latin typeface="Calibri" pitchFamily="34" charset="0"/>
                <a:ea typeface="Calibri" pitchFamily="34" charset="-122"/>
                <a:cs typeface="Calibri" pitchFamily="34" charset="-120"/>
              </a:rPr>
              <a:t>WPM</a:t>
            </a:r>
            <a:endParaRPr lang="en-US" sz="1100" dirty="0"/>
          </a:p>
        </p:txBody>
      </p:sp>
      <p:sp>
        <p:nvSpPr>
          <p:cNvPr id="7" name="Text 5"/>
          <p:cNvSpPr txBox="1"/>
          <p:nvPr/>
        </p:nvSpPr>
        <p:spPr>
          <a:xfrm>
            <a:off x="777240" y="3749040"/>
            <a:ext cx="1188720" cy="548640"/>
          </a:xfrm>
          <a:prstGeom prst="rect">
            <a:avLst/>
          </a:prstGeom>
          <a:noFill/>
          <a:ln/>
        </p:spPr>
        <p:txBody>
          <a:bodyPr wrap="square" lIns="0" tIns="0" rIns="0" bIns="0" rtlCol="0" anchor="ctr"/>
          <a:lstStyle/>
          <a:p>
            <a:pPr marL="0" indent="0">
              <a:buNone/>
            </a:pPr>
            <a:r>
              <a:rPr lang="en-US" sz="3000" b="1" dirty="0">
                <a:solidFill>
                  <a:srgbClr val="7C8CFF"/>
                </a:solidFill>
                <a:latin typeface="Cambria" pitchFamily="34" charset="0"/>
                <a:ea typeface="Cambria" pitchFamily="34" charset="-122"/>
                <a:cs typeface="Cambria" pitchFamily="34" charset="-120"/>
              </a:rPr>
              <a:t>42</a:t>
            </a:r>
            <a:endParaRPr lang="en-US" sz="3000" dirty="0"/>
          </a:p>
        </p:txBody>
      </p:sp>
      <p:sp>
        <p:nvSpPr>
          <p:cNvPr id="8" name="Shape 6"/>
          <p:cNvSpPr/>
          <p:nvPr/>
        </p:nvSpPr>
        <p:spPr>
          <a:xfrm>
            <a:off x="2240280" y="3383280"/>
            <a:ext cx="1417320" cy="1005840"/>
          </a:xfrm>
          <a:prstGeom prst="roundRect">
            <a:avLst>
              <a:gd name="adj" fmla="val 9091"/>
            </a:avLst>
          </a:prstGeom>
          <a:solidFill>
            <a:srgbClr val="1B1F2E"/>
          </a:solidFill>
          <a:ln w="12700">
            <a:solidFill>
              <a:srgbClr val="2A3045"/>
            </a:solidFill>
            <a:prstDash val="solid"/>
          </a:ln>
        </p:spPr>
      </p:sp>
      <p:sp>
        <p:nvSpPr>
          <p:cNvPr id="9" name="Text 7"/>
          <p:cNvSpPr txBox="1"/>
          <p:nvPr/>
        </p:nvSpPr>
        <p:spPr>
          <a:xfrm>
            <a:off x="2377440" y="3456432"/>
            <a:ext cx="1188720" cy="274320"/>
          </a:xfrm>
          <a:prstGeom prst="rect">
            <a:avLst/>
          </a:prstGeom>
          <a:noFill/>
          <a:ln/>
        </p:spPr>
        <p:txBody>
          <a:bodyPr wrap="square" lIns="0" tIns="0" rIns="0" bIns="0" rtlCol="0" anchor="ctr"/>
          <a:lstStyle/>
          <a:p>
            <a:pPr marL="0" indent="0">
              <a:buNone/>
            </a:pPr>
            <a:r>
              <a:rPr lang="en-US" sz="1100" b="1" dirty="0">
                <a:solidFill>
                  <a:srgbClr val="8B93B3"/>
                </a:solidFill>
                <a:latin typeface="Calibri" pitchFamily="34" charset="0"/>
                <a:ea typeface="Calibri" pitchFamily="34" charset="-122"/>
                <a:cs typeface="Calibri" pitchFamily="34" charset="-120"/>
              </a:rPr>
              <a:t>ACCURACY</a:t>
            </a:r>
            <a:endParaRPr lang="en-US" sz="1100" dirty="0"/>
          </a:p>
        </p:txBody>
      </p:sp>
      <p:sp>
        <p:nvSpPr>
          <p:cNvPr id="10" name="Text 8"/>
          <p:cNvSpPr txBox="1"/>
          <p:nvPr/>
        </p:nvSpPr>
        <p:spPr>
          <a:xfrm>
            <a:off x="2377440" y="3749040"/>
            <a:ext cx="1188720" cy="548640"/>
          </a:xfrm>
          <a:prstGeom prst="rect">
            <a:avLst/>
          </a:prstGeom>
          <a:noFill/>
          <a:ln/>
        </p:spPr>
        <p:txBody>
          <a:bodyPr wrap="square" lIns="0" tIns="0" rIns="0" bIns="0" rtlCol="0" anchor="ctr"/>
          <a:lstStyle/>
          <a:p>
            <a:pPr marL="0" indent="0">
              <a:buNone/>
            </a:pPr>
            <a:r>
              <a:rPr lang="en-US" sz="3000" b="1" dirty="0">
                <a:solidFill>
                  <a:srgbClr val="4ADE80"/>
                </a:solidFill>
                <a:latin typeface="Cambria" pitchFamily="34" charset="0"/>
                <a:ea typeface="Cambria" pitchFamily="34" charset="-122"/>
                <a:cs typeface="Cambria" pitchFamily="34" charset="-120"/>
              </a:rPr>
              <a:t>96%</a:t>
            </a:r>
            <a:endParaRPr lang="en-US" sz="3000" dirty="0"/>
          </a:p>
        </p:txBody>
      </p:sp>
      <p:sp>
        <p:nvSpPr>
          <p:cNvPr id="11" name="Shape 9"/>
          <p:cNvSpPr/>
          <p:nvPr/>
        </p:nvSpPr>
        <p:spPr>
          <a:xfrm>
            <a:off x="3840480" y="3383280"/>
            <a:ext cx="1417320" cy="1005840"/>
          </a:xfrm>
          <a:prstGeom prst="roundRect">
            <a:avLst>
              <a:gd name="adj" fmla="val 9091"/>
            </a:avLst>
          </a:prstGeom>
          <a:solidFill>
            <a:srgbClr val="1B1F2E"/>
          </a:solidFill>
          <a:ln w="12700">
            <a:solidFill>
              <a:srgbClr val="2A3045"/>
            </a:solidFill>
            <a:prstDash val="solid"/>
          </a:ln>
        </p:spPr>
      </p:sp>
      <p:sp>
        <p:nvSpPr>
          <p:cNvPr id="12" name="Text 10"/>
          <p:cNvSpPr txBox="1"/>
          <p:nvPr/>
        </p:nvSpPr>
        <p:spPr>
          <a:xfrm>
            <a:off x="3977640" y="3456432"/>
            <a:ext cx="1188720" cy="274320"/>
          </a:xfrm>
          <a:prstGeom prst="rect">
            <a:avLst/>
          </a:prstGeom>
          <a:noFill/>
          <a:ln/>
        </p:spPr>
        <p:txBody>
          <a:bodyPr wrap="square" lIns="0" tIns="0" rIns="0" bIns="0" rtlCol="0" anchor="ctr"/>
          <a:lstStyle/>
          <a:p>
            <a:pPr marL="0" indent="0">
              <a:buNone/>
            </a:pPr>
            <a:r>
              <a:rPr lang="en-US" sz="1100" b="1" dirty="0">
                <a:solidFill>
                  <a:srgbClr val="8B93B3"/>
                </a:solidFill>
                <a:latin typeface="Calibri" pitchFamily="34" charset="0"/>
                <a:ea typeface="Calibri" pitchFamily="34" charset="-122"/>
                <a:cs typeface="Calibri" pitchFamily="34" charset="-120"/>
              </a:rPr>
              <a:t>TIME</a:t>
            </a:r>
            <a:endParaRPr lang="en-US" sz="1100" dirty="0"/>
          </a:p>
        </p:txBody>
      </p:sp>
      <p:sp>
        <p:nvSpPr>
          <p:cNvPr id="13" name="Text 11"/>
          <p:cNvSpPr txBox="1"/>
          <p:nvPr/>
        </p:nvSpPr>
        <p:spPr>
          <a:xfrm>
            <a:off x="3977640" y="3749040"/>
            <a:ext cx="1188720" cy="548640"/>
          </a:xfrm>
          <a:prstGeom prst="rect">
            <a:avLst/>
          </a:prstGeom>
          <a:noFill/>
          <a:ln/>
        </p:spPr>
        <p:txBody>
          <a:bodyPr wrap="square" lIns="0" tIns="0" rIns="0" bIns="0" rtlCol="0" anchor="ctr"/>
          <a:lstStyle/>
          <a:p>
            <a:pPr marL="0" indent="0">
              <a:buNone/>
            </a:pPr>
            <a:r>
              <a:rPr lang="en-US" sz="3000" b="1" dirty="0">
                <a:solidFill>
                  <a:srgbClr val="FBBF24"/>
                </a:solidFill>
                <a:latin typeface="Cambria" pitchFamily="34" charset="0"/>
                <a:ea typeface="Cambria" pitchFamily="34" charset="-122"/>
                <a:cs typeface="Cambria" pitchFamily="34" charset="-120"/>
              </a:rPr>
              <a:t>18s</a:t>
            </a:r>
            <a:endParaRPr lang="en-US" sz="3000" dirty="0"/>
          </a:p>
        </p:txBody>
      </p:sp>
      <p:sp>
        <p:nvSpPr>
          <p:cNvPr id="14" name="Text 12"/>
          <p:cNvSpPr txBox="1"/>
          <p:nvPr/>
        </p:nvSpPr>
        <p:spPr>
          <a:xfrm>
            <a:off x="6126480" y="3474720"/>
            <a:ext cx="2651760" cy="914400"/>
          </a:xfrm>
          <a:prstGeom prst="rect">
            <a:avLst/>
          </a:prstGeom>
          <a:noFill/>
          <a:ln/>
        </p:spPr>
        <p:txBody>
          <a:bodyPr wrap="square" lIns="0" tIns="0" rIns="0" bIns="0" rtlCol="0" anchor="ctr"/>
          <a:lstStyle/>
          <a:p>
            <a:pPr marL="0" indent="0">
              <a:buNone/>
            </a:pPr>
            <a:r>
              <a:rPr lang="en-US" sz="1300" dirty="0">
                <a:solidFill>
                  <a:srgbClr val="8B93B3"/>
                </a:solidFill>
                <a:latin typeface="Calibri" pitchFamily="34" charset="0"/>
                <a:ea typeface="Calibri" pitchFamily="34" charset="-122"/>
                <a:cs typeface="Calibri" pitchFamily="34" charset="-120"/>
              </a:rPr>
              <a:t>Subject: Python Programming</a:t>
            </a:r>
            <a:endParaRPr lang="en-US" sz="1300" dirty="0"/>
          </a:p>
          <a:p>
            <a:pPr marL="0" indent="0">
              <a:buNone/>
            </a:pPr>
            <a:r>
              <a:rPr lang="en-US" sz="1300" dirty="0">
                <a:solidFill>
                  <a:srgbClr val="8B93B3"/>
                </a:solidFill>
                <a:latin typeface="Calibri" pitchFamily="34" charset="0"/>
                <a:ea typeface="Calibri" pitchFamily="34" charset="-122"/>
                <a:cs typeface="Calibri" pitchFamily="34" charset="-120"/>
              </a:rPr>
              <a:t>Submitted by : Ayush Chadotara</a:t>
            </a:r>
            <a:endParaRPr lang="en-US" sz="1300" dirty="0"/>
          </a:p>
          <a:p>
            <a:pPr marL="0" indent="0">
              <a:buNone/>
            </a:pPr>
            <a:r>
              <a:rPr lang="en-US" sz="1300" dirty="0">
                <a:solidFill>
                  <a:srgbClr val="8B93B3"/>
                </a:solidFill>
                <a:latin typeface="Calibri" pitchFamily="34" charset="0"/>
                <a:ea typeface="Calibri" pitchFamily="34" charset="-122"/>
                <a:cs typeface="Calibri" pitchFamily="34" charset="-120"/>
              </a:rPr>
              <a:t>Guide: Nayan Mali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D2238"/>
                </a:solidFill>
                <a:latin typeface="Cambria" pitchFamily="34" charset="0"/>
                <a:ea typeface="Cambria" pitchFamily="34" charset="-122"/>
                <a:cs typeface="Cambria" pitchFamily="34" charset="-120"/>
              </a:rPr>
              <a:t>Concepts &amp; Modules Used</a:t>
            </a:r>
            <a:endParaRPr lang="en-US" sz="3200" dirty="0"/>
          </a:p>
        </p:txBody>
      </p:sp>
      <p:sp>
        <p:nvSpPr>
          <p:cNvPr id="3" name="Shape 1"/>
          <p:cNvSpPr/>
          <p:nvPr/>
        </p:nvSpPr>
        <p:spPr>
          <a:xfrm>
            <a:off x="457200" y="1097280"/>
            <a:ext cx="2560320" cy="2286000"/>
          </a:xfrm>
          <a:prstGeom prst="roundRect">
            <a:avLst>
              <a:gd name="adj" fmla="val 4800"/>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4" name="Shape 2"/>
          <p:cNvSpPr/>
          <p:nvPr/>
        </p:nvSpPr>
        <p:spPr>
          <a:xfrm>
            <a:off x="685800" y="1280160"/>
            <a:ext cx="457200" cy="457200"/>
          </a:xfrm>
          <a:prstGeom prst="ellipse">
            <a:avLst/>
          </a:prstGeom>
          <a:solidFill>
            <a:srgbClr val="4F5BD5"/>
          </a:solidFill>
          <a:ln w="12700">
            <a:solidFill>
              <a:srgbClr val="4F5BD5"/>
            </a:solidFill>
            <a:prstDash val="solid"/>
          </a:ln>
        </p:spPr>
      </p:sp>
      <p:sp>
        <p:nvSpPr>
          <p:cNvPr id="5" name="Text 3"/>
          <p:cNvSpPr txBox="1"/>
          <p:nvPr/>
        </p:nvSpPr>
        <p:spPr>
          <a:xfrm>
            <a:off x="68580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80160" y="1280160"/>
            <a:ext cx="1645920" cy="457200"/>
          </a:xfrm>
          <a:prstGeom prst="rect">
            <a:avLst/>
          </a:prstGeom>
          <a:noFill/>
          <a:ln/>
        </p:spPr>
        <p:txBody>
          <a:bodyPr wrap="square" lIns="0" tIns="0" rIns="0" bIns="0" rtlCol="0" anchor="ctr"/>
          <a:lstStyle/>
          <a:p>
            <a:pPr marL="0" indent="0">
              <a:buNone/>
            </a:pPr>
            <a:r>
              <a:rPr lang="en-US" sz="1800" b="1" dirty="0">
                <a:solidFill>
                  <a:srgbClr val="1D2238"/>
                </a:solidFill>
                <a:latin typeface="Cambria" pitchFamily="34" charset="0"/>
                <a:ea typeface="Cambria" pitchFamily="34" charset="-122"/>
                <a:cs typeface="Cambria" pitchFamily="34" charset="-120"/>
              </a:rPr>
              <a:t>Strings</a:t>
            </a:r>
            <a:endParaRPr lang="en-US" sz="1800" dirty="0"/>
          </a:p>
        </p:txBody>
      </p:sp>
      <p:sp>
        <p:nvSpPr>
          <p:cNvPr id="7" name="Text 5"/>
          <p:cNvSpPr txBox="1"/>
          <p:nvPr/>
        </p:nvSpPr>
        <p:spPr>
          <a:xfrm>
            <a:off x="685800" y="1920240"/>
            <a:ext cx="2148840" cy="137160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Indexing typed[i], slicing, strip(), split(), f-strings</a:t>
            </a:r>
            <a:endParaRPr lang="en-US" sz="1400" dirty="0"/>
          </a:p>
        </p:txBody>
      </p:sp>
      <p:sp>
        <p:nvSpPr>
          <p:cNvPr id="8" name="Shape 6"/>
          <p:cNvSpPr/>
          <p:nvPr/>
        </p:nvSpPr>
        <p:spPr>
          <a:xfrm>
            <a:off x="3291840" y="1097280"/>
            <a:ext cx="2560320" cy="2286000"/>
          </a:xfrm>
          <a:prstGeom prst="roundRect">
            <a:avLst>
              <a:gd name="adj" fmla="val 4800"/>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9" name="Shape 7"/>
          <p:cNvSpPr/>
          <p:nvPr/>
        </p:nvSpPr>
        <p:spPr>
          <a:xfrm>
            <a:off x="3520440" y="1280160"/>
            <a:ext cx="457200" cy="457200"/>
          </a:xfrm>
          <a:prstGeom prst="ellipse">
            <a:avLst/>
          </a:prstGeom>
          <a:solidFill>
            <a:srgbClr val="16A34A"/>
          </a:solidFill>
          <a:ln w="12700">
            <a:solidFill>
              <a:srgbClr val="16A34A"/>
            </a:solidFill>
            <a:prstDash val="solid"/>
          </a:ln>
        </p:spPr>
      </p:sp>
      <p:sp>
        <p:nvSpPr>
          <p:cNvPr id="10" name="Text 8"/>
          <p:cNvSpPr txBox="1"/>
          <p:nvPr/>
        </p:nvSpPr>
        <p:spPr>
          <a:xfrm>
            <a:off x="352044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4114800" y="1280160"/>
            <a:ext cx="1645920" cy="457200"/>
          </a:xfrm>
          <a:prstGeom prst="rect">
            <a:avLst/>
          </a:prstGeom>
          <a:noFill/>
          <a:ln/>
        </p:spPr>
        <p:txBody>
          <a:bodyPr wrap="square" lIns="0" tIns="0" rIns="0" bIns="0" rtlCol="0" anchor="ctr"/>
          <a:lstStyle/>
          <a:p>
            <a:pPr marL="0" indent="0">
              <a:buNone/>
            </a:pPr>
            <a:r>
              <a:rPr lang="en-US" sz="1800" b="1" dirty="0">
                <a:solidFill>
                  <a:srgbClr val="1D2238"/>
                </a:solidFill>
                <a:latin typeface="Cambria" pitchFamily="34" charset="0"/>
                <a:ea typeface="Cambria" pitchFamily="34" charset="-122"/>
                <a:cs typeface="Cambria" pitchFamily="34" charset="-120"/>
              </a:rPr>
              <a:t>Functions</a:t>
            </a:r>
            <a:endParaRPr lang="en-US" sz="1800" dirty="0"/>
          </a:p>
        </p:txBody>
      </p:sp>
      <p:sp>
        <p:nvSpPr>
          <p:cNvPr id="12" name="Text 10"/>
          <p:cNvSpPr txBox="1"/>
          <p:nvPr/>
        </p:nvSpPr>
        <p:spPr>
          <a:xfrm>
            <a:off x="3520440" y="1920240"/>
            <a:ext cx="2148840" cy="137160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get_random_text, count_correct_chars, calculate_wpm, calculate_accuracy, get_rating</a:t>
            </a:r>
            <a:endParaRPr lang="en-US" sz="1400" dirty="0"/>
          </a:p>
        </p:txBody>
      </p:sp>
      <p:sp>
        <p:nvSpPr>
          <p:cNvPr id="13" name="Shape 11"/>
          <p:cNvSpPr/>
          <p:nvPr/>
        </p:nvSpPr>
        <p:spPr>
          <a:xfrm>
            <a:off x="6126480" y="1097280"/>
            <a:ext cx="2560320" cy="2286000"/>
          </a:xfrm>
          <a:prstGeom prst="roundRect">
            <a:avLst>
              <a:gd name="adj" fmla="val 4800"/>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14" name="Shape 12"/>
          <p:cNvSpPr/>
          <p:nvPr/>
        </p:nvSpPr>
        <p:spPr>
          <a:xfrm>
            <a:off x="6355080" y="1280160"/>
            <a:ext cx="457200" cy="457200"/>
          </a:xfrm>
          <a:prstGeom prst="ellipse">
            <a:avLst/>
          </a:prstGeom>
          <a:solidFill>
            <a:srgbClr val="D97706"/>
          </a:solidFill>
          <a:ln w="12700">
            <a:solidFill>
              <a:srgbClr val="D97706"/>
            </a:solidFill>
            <a:prstDash val="solid"/>
          </a:ln>
        </p:spPr>
      </p:sp>
      <p:sp>
        <p:nvSpPr>
          <p:cNvPr id="15" name="Text 13"/>
          <p:cNvSpPr txBox="1"/>
          <p:nvPr/>
        </p:nvSpPr>
        <p:spPr>
          <a:xfrm>
            <a:off x="6355080" y="1280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6949440" y="1280160"/>
            <a:ext cx="1645920" cy="457200"/>
          </a:xfrm>
          <a:prstGeom prst="rect">
            <a:avLst/>
          </a:prstGeom>
          <a:noFill/>
          <a:ln/>
        </p:spPr>
        <p:txBody>
          <a:bodyPr wrap="square" lIns="0" tIns="0" rIns="0" bIns="0" rtlCol="0" anchor="ctr"/>
          <a:lstStyle/>
          <a:p>
            <a:pPr marL="0" indent="0">
              <a:buNone/>
            </a:pPr>
            <a:r>
              <a:rPr lang="en-US" sz="1800" b="1" dirty="0">
                <a:solidFill>
                  <a:srgbClr val="1D2238"/>
                </a:solidFill>
                <a:latin typeface="Cambria" pitchFamily="34" charset="0"/>
                <a:ea typeface="Cambria" pitchFamily="34" charset="-122"/>
                <a:cs typeface="Cambria" pitchFamily="34" charset="-120"/>
              </a:rPr>
              <a:t>GUI (Tkinter)</a:t>
            </a:r>
            <a:endParaRPr lang="en-US" sz="1800" dirty="0"/>
          </a:p>
        </p:txBody>
      </p:sp>
      <p:sp>
        <p:nvSpPr>
          <p:cNvPr id="17" name="Text 15"/>
          <p:cNvSpPr txBox="1"/>
          <p:nvPr/>
        </p:nvSpPr>
        <p:spPr>
          <a:xfrm>
            <a:off x="6355080" y="1920240"/>
            <a:ext cx="2148840" cy="137160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Frames, Entry, Text tags, Canvas bar, FlatButton class, after() timer</a:t>
            </a:r>
            <a:endParaRPr lang="en-US" sz="1400" dirty="0"/>
          </a:p>
        </p:txBody>
      </p:sp>
      <p:sp>
        <p:nvSpPr>
          <p:cNvPr id="18" name="Shape 16"/>
          <p:cNvSpPr/>
          <p:nvPr/>
        </p:nvSpPr>
        <p:spPr>
          <a:xfrm>
            <a:off x="457200" y="3611880"/>
            <a:ext cx="8229600" cy="1051560"/>
          </a:xfrm>
          <a:prstGeom prst="roundRect">
            <a:avLst>
              <a:gd name="adj" fmla="val 10435"/>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19" name="Text 17"/>
          <p:cNvSpPr txBox="1"/>
          <p:nvPr/>
        </p:nvSpPr>
        <p:spPr>
          <a:xfrm>
            <a:off x="685800" y="3675888"/>
            <a:ext cx="7772400" cy="320040"/>
          </a:xfrm>
          <a:prstGeom prst="rect">
            <a:avLst/>
          </a:prstGeom>
          <a:noFill/>
          <a:ln/>
        </p:spPr>
        <p:txBody>
          <a:bodyPr wrap="square" lIns="0" tIns="0" rIns="0" bIns="0" rtlCol="0" anchor="ctr"/>
          <a:lstStyle/>
          <a:p>
            <a:pPr marL="0" indent="0">
              <a:buNone/>
            </a:pPr>
            <a:r>
              <a:rPr lang="en-US" sz="1600" b="1" dirty="0">
                <a:solidFill>
                  <a:srgbClr val="4F5BD5"/>
                </a:solidFill>
                <a:latin typeface="Cambria" pitchFamily="34" charset="0"/>
                <a:ea typeface="Cambria" pitchFamily="34" charset="-122"/>
                <a:cs typeface="Cambria" pitchFamily="34" charset="-120"/>
              </a:rPr>
              <a:t>Modules (standard library only)</a:t>
            </a:r>
            <a:endParaRPr lang="en-US" sz="1600" dirty="0"/>
          </a:p>
        </p:txBody>
      </p:sp>
      <p:sp>
        <p:nvSpPr>
          <p:cNvPr id="20" name="Text 18"/>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400" dirty="0">
                <a:solidFill>
                  <a:srgbClr val="1D2238"/>
                </a:solidFill>
                <a:latin typeface="Calibri" pitchFamily="34" charset="0"/>
                <a:ea typeface="Calibri" pitchFamily="34" charset="-122"/>
                <a:cs typeface="Calibri" pitchFamily="34" charset="-120"/>
              </a:rPr>
              <a:t>tkinter - GUI     random - sentence choice     time - elapsed time     math - ceil() for countdown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D2238"/>
                </a:solidFill>
                <a:latin typeface="Cambria" pitchFamily="34" charset="0"/>
                <a:ea typeface="Cambria" pitchFamily="34" charset="-122"/>
                <a:cs typeface="Cambria" pitchFamily="34" charset="-120"/>
              </a:rPr>
              <a:t>How the Program Works</a:t>
            </a:r>
            <a:endParaRPr lang="en-US" sz="3200" dirty="0"/>
          </a:p>
        </p:txBody>
      </p:sp>
      <p:sp>
        <p:nvSpPr>
          <p:cNvPr id="3" name="Shape 1"/>
          <p:cNvSpPr/>
          <p:nvPr/>
        </p:nvSpPr>
        <p:spPr>
          <a:xfrm>
            <a:off x="457200" y="1188720"/>
            <a:ext cx="2560320" cy="1600200"/>
          </a:xfrm>
          <a:prstGeom prst="roundRect">
            <a:avLst>
              <a:gd name="adj" fmla="val 6857"/>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4" name="Shape 2"/>
          <p:cNvSpPr/>
          <p:nvPr/>
        </p:nvSpPr>
        <p:spPr>
          <a:xfrm>
            <a:off x="640080" y="1353312"/>
            <a:ext cx="457200" cy="457200"/>
          </a:xfrm>
          <a:prstGeom prst="ellipse">
            <a:avLst/>
          </a:prstGeom>
          <a:solidFill>
            <a:srgbClr val="4F5BD5"/>
          </a:solidFill>
          <a:ln w="12700">
            <a:solidFill>
              <a:srgbClr val="4F5BD5"/>
            </a:solidFill>
            <a:prstDash val="solid"/>
          </a:ln>
        </p:spPr>
      </p:sp>
      <p:sp>
        <p:nvSpPr>
          <p:cNvPr id="5" name="Text 3"/>
          <p:cNvSpPr txBox="1"/>
          <p:nvPr/>
        </p:nvSpPr>
        <p:spPr>
          <a:xfrm>
            <a:off x="640080" y="13533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353312"/>
            <a:ext cx="1691640" cy="457200"/>
          </a:xfrm>
          <a:prstGeom prst="rect">
            <a:avLst/>
          </a:prstGeom>
          <a:noFill/>
          <a:ln/>
        </p:spPr>
        <p:txBody>
          <a:bodyPr wrap="square" lIns="0" tIns="0" rIns="0" bIns="0" rtlCol="0" anchor="ctr"/>
          <a:lstStyle/>
          <a:p>
            <a:pPr marL="0" indent="0">
              <a:buNone/>
            </a:pPr>
            <a:r>
              <a:rPr lang="en-US" sz="1700" b="1" dirty="0">
                <a:solidFill>
                  <a:srgbClr val="1D2238"/>
                </a:solidFill>
                <a:latin typeface="Cambria" pitchFamily="34" charset="0"/>
                <a:ea typeface="Cambria" pitchFamily="34" charset="-122"/>
                <a:cs typeface="Cambria" pitchFamily="34" charset="-120"/>
              </a:rPr>
              <a:t>Launch</a:t>
            </a:r>
            <a:endParaRPr lang="en-US" sz="1700" dirty="0"/>
          </a:p>
        </p:txBody>
      </p:sp>
      <p:sp>
        <p:nvSpPr>
          <p:cNvPr id="7" name="Text 5"/>
          <p:cNvSpPr txBox="1"/>
          <p:nvPr/>
        </p:nvSpPr>
        <p:spPr>
          <a:xfrm>
            <a:off x="640080" y="1965960"/>
            <a:ext cx="2240280" cy="77724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main() creates the Tk window and the app object</a:t>
            </a:r>
            <a:endParaRPr lang="en-US" sz="1400" dirty="0"/>
          </a:p>
        </p:txBody>
      </p:sp>
      <p:sp>
        <p:nvSpPr>
          <p:cNvPr id="8" name="Shape 6"/>
          <p:cNvSpPr/>
          <p:nvPr/>
        </p:nvSpPr>
        <p:spPr>
          <a:xfrm>
            <a:off x="3291840" y="1188720"/>
            <a:ext cx="2560320" cy="1600200"/>
          </a:xfrm>
          <a:prstGeom prst="roundRect">
            <a:avLst>
              <a:gd name="adj" fmla="val 6857"/>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9" name="Shape 7"/>
          <p:cNvSpPr/>
          <p:nvPr/>
        </p:nvSpPr>
        <p:spPr>
          <a:xfrm>
            <a:off x="3474720" y="1353312"/>
            <a:ext cx="457200" cy="457200"/>
          </a:xfrm>
          <a:prstGeom prst="ellipse">
            <a:avLst/>
          </a:prstGeom>
          <a:solidFill>
            <a:srgbClr val="4F5BD5"/>
          </a:solidFill>
          <a:ln w="12700">
            <a:solidFill>
              <a:srgbClr val="4F5BD5"/>
            </a:solidFill>
            <a:prstDash val="solid"/>
          </a:ln>
        </p:spPr>
      </p:sp>
      <p:sp>
        <p:nvSpPr>
          <p:cNvPr id="10" name="Text 8"/>
          <p:cNvSpPr txBox="1"/>
          <p:nvPr/>
        </p:nvSpPr>
        <p:spPr>
          <a:xfrm>
            <a:off x="3474720" y="13533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4069080" y="1353312"/>
            <a:ext cx="1691640" cy="457200"/>
          </a:xfrm>
          <a:prstGeom prst="rect">
            <a:avLst/>
          </a:prstGeom>
          <a:noFill/>
          <a:ln/>
        </p:spPr>
        <p:txBody>
          <a:bodyPr wrap="square" lIns="0" tIns="0" rIns="0" bIns="0" rtlCol="0" anchor="ctr"/>
          <a:lstStyle/>
          <a:p>
            <a:pPr marL="0" indent="0">
              <a:buNone/>
            </a:pPr>
            <a:r>
              <a:rPr lang="en-US" sz="1700" b="1" dirty="0">
                <a:solidFill>
                  <a:srgbClr val="1D2238"/>
                </a:solidFill>
                <a:latin typeface="Cambria" pitchFamily="34" charset="0"/>
                <a:ea typeface="Cambria" pitchFamily="34" charset="-122"/>
                <a:cs typeface="Cambria" pitchFamily="34" charset="-120"/>
              </a:rPr>
              <a:t>Pick text</a:t>
            </a:r>
            <a:endParaRPr lang="en-US" sz="1700" dirty="0"/>
          </a:p>
        </p:txBody>
      </p:sp>
      <p:sp>
        <p:nvSpPr>
          <p:cNvPr id="12" name="Text 10"/>
          <p:cNvSpPr txBox="1"/>
          <p:nvPr/>
        </p:nvSpPr>
        <p:spPr>
          <a:xfrm>
            <a:off x="3474720" y="1965960"/>
            <a:ext cx="2240280" cy="77724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get_random_text() selects a sentence, no repeats</a:t>
            </a:r>
            <a:endParaRPr lang="en-US" sz="1400" dirty="0"/>
          </a:p>
        </p:txBody>
      </p:sp>
      <p:sp>
        <p:nvSpPr>
          <p:cNvPr id="13" name="Shape 11"/>
          <p:cNvSpPr/>
          <p:nvPr/>
        </p:nvSpPr>
        <p:spPr>
          <a:xfrm>
            <a:off x="6126480" y="1188720"/>
            <a:ext cx="2560320" cy="1600200"/>
          </a:xfrm>
          <a:prstGeom prst="roundRect">
            <a:avLst>
              <a:gd name="adj" fmla="val 6857"/>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14" name="Shape 12"/>
          <p:cNvSpPr/>
          <p:nvPr/>
        </p:nvSpPr>
        <p:spPr>
          <a:xfrm>
            <a:off x="6309360" y="1353312"/>
            <a:ext cx="457200" cy="457200"/>
          </a:xfrm>
          <a:prstGeom prst="ellipse">
            <a:avLst/>
          </a:prstGeom>
          <a:solidFill>
            <a:srgbClr val="4F5BD5"/>
          </a:solidFill>
          <a:ln w="12700">
            <a:solidFill>
              <a:srgbClr val="4F5BD5"/>
            </a:solidFill>
            <a:prstDash val="solid"/>
          </a:ln>
        </p:spPr>
      </p:sp>
      <p:sp>
        <p:nvSpPr>
          <p:cNvPr id="15" name="Text 13"/>
          <p:cNvSpPr txBox="1"/>
          <p:nvPr/>
        </p:nvSpPr>
        <p:spPr>
          <a:xfrm>
            <a:off x="6309360" y="13533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6903720" y="1353312"/>
            <a:ext cx="1691640" cy="457200"/>
          </a:xfrm>
          <a:prstGeom prst="rect">
            <a:avLst/>
          </a:prstGeom>
          <a:noFill/>
          <a:ln/>
        </p:spPr>
        <p:txBody>
          <a:bodyPr wrap="square" lIns="0" tIns="0" rIns="0" bIns="0" rtlCol="0" anchor="ctr"/>
          <a:lstStyle/>
          <a:p>
            <a:pPr marL="0" indent="0">
              <a:buNone/>
            </a:pPr>
            <a:r>
              <a:rPr lang="en-US" sz="1700" b="1" dirty="0">
                <a:solidFill>
                  <a:srgbClr val="1D2238"/>
                </a:solidFill>
                <a:latin typeface="Cambria" pitchFamily="34" charset="0"/>
                <a:ea typeface="Cambria" pitchFamily="34" charset="-122"/>
                <a:cs typeface="Cambria" pitchFamily="34" charset="-120"/>
              </a:rPr>
              <a:t>Start typing</a:t>
            </a:r>
            <a:endParaRPr lang="en-US" sz="1700" dirty="0"/>
          </a:p>
        </p:txBody>
      </p:sp>
      <p:sp>
        <p:nvSpPr>
          <p:cNvPr id="17" name="Text 15"/>
          <p:cNvSpPr txBox="1"/>
          <p:nvPr/>
        </p:nvSpPr>
        <p:spPr>
          <a:xfrm>
            <a:off x="6309360" y="1965960"/>
            <a:ext cx="2240280" cy="77724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First keystroke starts the timer</a:t>
            </a:r>
            <a:endParaRPr lang="en-US" sz="1400" dirty="0"/>
          </a:p>
        </p:txBody>
      </p:sp>
      <p:sp>
        <p:nvSpPr>
          <p:cNvPr id="18" name="Shape 16"/>
          <p:cNvSpPr/>
          <p:nvPr/>
        </p:nvSpPr>
        <p:spPr>
          <a:xfrm>
            <a:off x="457200" y="2971800"/>
            <a:ext cx="2560320" cy="1600200"/>
          </a:xfrm>
          <a:prstGeom prst="roundRect">
            <a:avLst>
              <a:gd name="adj" fmla="val 6857"/>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19" name="Shape 17"/>
          <p:cNvSpPr/>
          <p:nvPr/>
        </p:nvSpPr>
        <p:spPr>
          <a:xfrm>
            <a:off x="640080" y="3136392"/>
            <a:ext cx="457200" cy="457200"/>
          </a:xfrm>
          <a:prstGeom prst="ellipse">
            <a:avLst/>
          </a:prstGeom>
          <a:solidFill>
            <a:srgbClr val="4F5BD5"/>
          </a:solidFill>
          <a:ln w="12700">
            <a:solidFill>
              <a:srgbClr val="4F5BD5"/>
            </a:solidFill>
            <a:prstDash val="solid"/>
          </a:ln>
        </p:spPr>
      </p:sp>
      <p:sp>
        <p:nvSpPr>
          <p:cNvPr id="20" name="Text 18"/>
          <p:cNvSpPr txBox="1"/>
          <p:nvPr/>
        </p:nvSpPr>
        <p:spPr>
          <a:xfrm>
            <a:off x="640080" y="31363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234440" y="3136392"/>
            <a:ext cx="1691640" cy="457200"/>
          </a:xfrm>
          <a:prstGeom prst="rect">
            <a:avLst/>
          </a:prstGeom>
          <a:noFill/>
          <a:ln/>
        </p:spPr>
        <p:txBody>
          <a:bodyPr wrap="square" lIns="0" tIns="0" rIns="0" bIns="0" rtlCol="0" anchor="ctr"/>
          <a:lstStyle/>
          <a:p>
            <a:pPr marL="0" indent="0">
              <a:buNone/>
            </a:pPr>
            <a:r>
              <a:rPr lang="en-US" sz="1700" b="1" dirty="0">
                <a:solidFill>
                  <a:srgbClr val="1D2238"/>
                </a:solidFill>
                <a:latin typeface="Cambria" pitchFamily="34" charset="0"/>
                <a:ea typeface="Cambria" pitchFamily="34" charset="-122"/>
                <a:cs typeface="Cambria" pitchFamily="34" charset="-120"/>
              </a:rPr>
              <a:t>Live update</a:t>
            </a:r>
            <a:endParaRPr lang="en-US" sz="1700" dirty="0"/>
          </a:p>
        </p:txBody>
      </p:sp>
      <p:sp>
        <p:nvSpPr>
          <p:cNvPr id="22" name="Text 20"/>
          <p:cNvSpPr txBox="1"/>
          <p:nvPr/>
        </p:nvSpPr>
        <p:spPr>
          <a:xfrm>
            <a:off x="640080" y="3749040"/>
            <a:ext cx="2240280" cy="77724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Every 50 ms: time, bar, WPM and accuracy refresh</a:t>
            </a:r>
            <a:endParaRPr lang="en-US" sz="1400" dirty="0"/>
          </a:p>
        </p:txBody>
      </p:sp>
      <p:sp>
        <p:nvSpPr>
          <p:cNvPr id="23" name="Shape 21"/>
          <p:cNvSpPr/>
          <p:nvPr/>
        </p:nvSpPr>
        <p:spPr>
          <a:xfrm>
            <a:off x="3291840" y="2971800"/>
            <a:ext cx="2560320" cy="1600200"/>
          </a:xfrm>
          <a:prstGeom prst="roundRect">
            <a:avLst>
              <a:gd name="adj" fmla="val 6857"/>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24" name="Shape 22"/>
          <p:cNvSpPr/>
          <p:nvPr/>
        </p:nvSpPr>
        <p:spPr>
          <a:xfrm>
            <a:off x="3474720" y="3136392"/>
            <a:ext cx="457200" cy="457200"/>
          </a:xfrm>
          <a:prstGeom prst="ellipse">
            <a:avLst/>
          </a:prstGeom>
          <a:solidFill>
            <a:srgbClr val="4F5BD5"/>
          </a:solidFill>
          <a:ln w="12700">
            <a:solidFill>
              <a:srgbClr val="4F5BD5"/>
            </a:solidFill>
            <a:prstDash val="solid"/>
          </a:ln>
        </p:spPr>
      </p:sp>
      <p:sp>
        <p:nvSpPr>
          <p:cNvPr id="25" name="Text 23"/>
          <p:cNvSpPr txBox="1"/>
          <p:nvPr/>
        </p:nvSpPr>
        <p:spPr>
          <a:xfrm>
            <a:off x="3474720" y="31363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4069080" y="3136392"/>
            <a:ext cx="1691640" cy="457200"/>
          </a:xfrm>
          <a:prstGeom prst="rect">
            <a:avLst/>
          </a:prstGeom>
          <a:noFill/>
          <a:ln/>
        </p:spPr>
        <p:txBody>
          <a:bodyPr wrap="square" lIns="0" tIns="0" rIns="0" bIns="0" rtlCol="0" anchor="ctr"/>
          <a:lstStyle/>
          <a:p>
            <a:pPr marL="0" indent="0">
              <a:buNone/>
            </a:pPr>
            <a:r>
              <a:rPr lang="en-US" sz="1700" b="1" dirty="0">
                <a:solidFill>
                  <a:srgbClr val="1D2238"/>
                </a:solidFill>
                <a:latin typeface="Cambria" pitchFamily="34" charset="0"/>
                <a:ea typeface="Cambria" pitchFamily="34" charset="-122"/>
                <a:cs typeface="Cambria" pitchFamily="34" charset="-120"/>
              </a:rPr>
              <a:t>Finish</a:t>
            </a:r>
            <a:endParaRPr lang="en-US" sz="1700" dirty="0"/>
          </a:p>
        </p:txBody>
      </p:sp>
      <p:sp>
        <p:nvSpPr>
          <p:cNvPr id="27" name="Text 25"/>
          <p:cNvSpPr txBox="1"/>
          <p:nvPr/>
        </p:nvSpPr>
        <p:spPr>
          <a:xfrm>
            <a:off x="3474720" y="3749040"/>
            <a:ext cx="2240280" cy="77724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Time runs out or the full sentence is typed</a:t>
            </a:r>
            <a:endParaRPr lang="en-US" sz="1400" dirty="0"/>
          </a:p>
        </p:txBody>
      </p:sp>
      <p:sp>
        <p:nvSpPr>
          <p:cNvPr id="28" name="Shape 26"/>
          <p:cNvSpPr/>
          <p:nvPr/>
        </p:nvSpPr>
        <p:spPr>
          <a:xfrm>
            <a:off x="6126480" y="2971800"/>
            <a:ext cx="2560320" cy="1600200"/>
          </a:xfrm>
          <a:prstGeom prst="roundRect">
            <a:avLst>
              <a:gd name="adj" fmla="val 6857"/>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29" name="Shape 27"/>
          <p:cNvSpPr/>
          <p:nvPr/>
        </p:nvSpPr>
        <p:spPr>
          <a:xfrm>
            <a:off x="6309360" y="3136392"/>
            <a:ext cx="457200" cy="457200"/>
          </a:xfrm>
          <a:prstGeom prst="ellipse">
            <a:avLst/>
          </a:prstGeom>
          <a:solidFill>
            <a:srgbClr val="4F5BD5"/>
          </a:solidFill>
          <a:ln w="12700">
            <a:solidFill>
              <a:srgbClr val="4F5BD5"/>
            </a:solidFill>
            <a:prstDash val="solid"/>
          </a:ln>
        </p:spPr>
      </p:sp>
      <p:sp>
        <p:nvSpPr>
          <p:cNvPr id="30" name="Text 28"/>
          <p:cNvSpPr txBox="1"/>
          <p:nvPr/>
        </p:nvSpPr>
        <p:spPr>
          <a:xfrm>
            <a:off x="6309360" y="31363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6903720" y="3136392"/>
            <a:ext cx="1691640" cy="457200"/>
          </a:xfrm>
          <a:prstGeom prst="rect">
            <a:avLst/>
          </a:prstGeom>
          <a:noFill/>
          <a:ln/>
        </p:spPr>
        <p:txBody>
          <a:bodyPr wrap="square" lIns="0" tIns="0" rIns="0" bIns="0" rtlCol="0" anchor="ctr"/>
          <a:lstStyle/>
          <a:p>
            <a:pPr marL="0" indent="0">
              <a:buNone/>
            </a:pPr>
            <a:r>
              <a:rPr lang="en-US" sz="1700" b="1" dirty="0">
                <a:solidFill>
                  <a:srgbClr val="1D2238"/>
                </a:solidFill>
                <a:latin typeface="Cambria" pitchFamily="34" charset="0"/>
                <a:ea typeface="Cambria" pitchFamily="34" charset="-122"/>
                <a:cs typeface="Cambria" pitchFamily="34" charset="-120"/>
              </a:rPr>
              <a:t>Results</a:t>
            </a:r>
            <a:endParaRPr lang="en-US" sz="1700" dirty="0"/>
          </a:p>
        </p:txBody>
      </p:sp>
      <p:sp>
        <p:nvSpPr>
          <p:cNvPr id="32" name="Text 30"/>
          <p:cNvSpPr txBox="1"/>
          <p:nvPr/>
        </p:nvSpPr>
        <p:spPr>
          <a:xfrm>
            <a:off x="6309360" y="3749040"/>
            <a:ext cx="2240280" cy="777240"/>
          </a:xfrm>
          <a:prstGeom prst="rect">
            <a:avLst/>
          </a:prstGeom>
          <a:noFill/>
          <a:ln/>
        </p:spPr>
        <p:txBody>
          <a:bodyPr wrap="square" lIns="0" tIns="0" rIns="0" bIns="0" rtlCol="0" anchor="t"/>
          <a:lstStyle/>
          <a:p>
            <a:pPr marL="0" indent="0">
              <a:buNone/>
            </a:pPr>
            <a:r>
              <a:rPr lang="en-US" sz="1400" dirty="0">
                <a:solidFill>
                  <a:srgbClr val="6B7390"/>
                </a:solidFill>
                <a:latin typeface="Calibri" pitchFamily="34" charset="0"/>
                <a:ea typeface="Calibri" pitchFamily="34" charset="-122"/>
                <a:cs typeface="Calibri" pitchFamily="34" charset="-120"/>
              </a:rPr>
              <a:t>Final WPM, accuracy, words and level shown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D2238"/>
                </a:solidFill>
                <a:latin typeface="Cambria" pitchFamily="34" charset="0"/>
                <a:ea typeface="Cambria" pitchFamily="34" charset="-122"/>
                <a:cs typeface="Cambria" pitchFamily="34" charset="-120"/>
              </a:rPr>
              <a:t>Core Functions &amp; Formulas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75488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0292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Function</a:t>
                      </a:r>
                      <a:endParaRPr lang="en-US" sz="1400" dirty="0">
                        <a:latin typeface="Calibri" charset="0"/>
                        <a:ea typeface="Calibri" charset="0"/>
                        <a:cs typeface="Calibri"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4F5BD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4F5BD5"/>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1D2238"/>
                          </a:solidFill>
                          <a:latin typeface="Courier New" pitchFamily="34" charset="0"/>
                          <a:ea typeface="Courier New" pitchFamily="34" charset="-122"/>
                          <a:cs typeface="Courier New" pitchFamily="34" charset="-120"/>
                        </a:rPr>
                        <a:t>get_random_text()</a:t>
                      </a:r>
                      <a:endParaRPr lang="en-US" sz="1300" dirty="0">
                        <a:latin typeface="Courier New" charset="0"/>
                        <a:ea typeface="Courier New" charset="0"/>
                        <a:cs typeface="Courier New"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400" dirty="0">
                          <a:solidFill>
                            <a:srgbClr val="1D2238"/>
                          </a:solidFill>
                          <a:latin typeface="Calibri" pitchFamily="34" charset="0"/>
                          <a:ea typeface="Calibri" pitchFamily="34" charset="-122"/>
                          <a:cs typeface="Calibri" pitchFamily="34" charset="-120"/>
                        </a:rPr>
                        <a:t>Random sentence</a:t>
                      </a:r>
                      <a:endParaRPr lang="en-US" sz="1400" dirty="0">
                        <a:latin typeface="Calibri" charset="0"/>
                        <a:ea typeface="Calibri" charset="0"/>
                        <a:cs typeface="Calibri"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1D2238"/>
                          </a:solidFill>
                          <a:latin typeface="Courier New" pitchFamily="34" charset="0"/>
                          <a:ea typeface="Courier New" pitchFamily="34" charset="-122"/>
                          <a:cs typeface="Courier New" pitchFamily="34" charset="-120"/>
                        </a:rPr>
                        <a:t>count_correct_chars()</a:t>
                      </a:r>
                      <a:endParaRPr lang="en-US" sz="1300" dirty="0">
                        <a:latin typeface="Courier New" charset="0"/>
                        <a:ea typeface="Courier New" charset="0"/>
                        <a:cs typeface="Courier New"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400" dirty="0">
                          <a:solidFill>
                            <a:srgbClr val="1D2238"/>
                          </a:solidFill>
                          <a:latin typeface="Calibri" pitchFamily="34" charset="0"/>
                          <a:ea typeface="Calibri" pitchFamily="34" charset="-122"/>
                          <a:cs typeface="Calibri" pitchFamily="34" charset="-120"/>
                        </a:rPr>
                        <a:t>Matches by position</a:t>
                      </a:r>
                      <a:endParaRPr lang="en-US" sz="1400" dirty="0">
                        <a:latin typeface="Calibri" charset="0"/>
                        <a:ea typeface="Calibri" charset="0"/>
                        <a:cs typeface="Calibri"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1D2238"/>
                          </a:solidFill>
                          <a:latin typeface="Courier New" pitchFamily="34" charset="0"/>
                          <a:ea typeface="Courier New" pitchFamily="34" charset="-122"/>
                          <a:cs typeface="Courier New" pitchFamily="34" charset="-120"/>
                        </a:rPr>
                        <a:t>calculate_wpm()</a:t>
                      </a:r>
                      <a:endParaRPr lang="en-US" sz="1300" dirty="0">
                        <a:latin typeface="Courier New" charset="0"/>
                        <a:ea typeface="Courier New" charset="0"/>
                        <a:cs typeface="Courier New"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400" dirty="0">
                          <a:solidFill>
                            <a:srgbClr val="1D2238"/>
                          </a:solidFill>
                          <a:latin typeface="Calibri" pitchFamily="34" charset="0"/>
                          <a:ea typeface="Calibri" pitchFamily="34" charset="-122"/>
                          <a:cs typeface="Calibri" pitchFamily="34" charset="-120"/>
                        </a:rPr>
                        <a:t>Words per minute</a:t>
                      </a:r>
                      <a:endParaRPr lang="en-US" sz="1400" dirty="0">
                        <a:latin typeface="Calibri" charset="0"/>
                        <a:ea typeface="Calibri" charset="0"/>
                        <a:cs typeface="Calibri"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1D2238"/>
                          </a:solidFill>
                          <a:latin typeface="Courier New" pitchFamily="34" charset="0"/>
                          <a:ea typeface="Courier New" pitchFamily="34" charset="-122"/>
                          <a:cs typeface="Courier New" pitchFamily="34" charset="-120"/>
                        </a:rPr>
                        <a:t>calculate_accuracy()</a:t>
                      </a:r>
                      <a:endParaRPr lang="en-US" sz="1300" dirty="0">
                        <a:latin typeface="Courier New" charset="0"/>
                        <a:ea typeface="Courier New" charset="0"/>
                        <a:cs typeface="Courier New"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400" dirty="0">
                          <a:solidFill>
                            <a:srgbClr val="1D2238"/>
                          </a:solidFill>
                          <a:latin typeface="Calibri" pitchFamily="34" charset="0"/>
                          <a:ea typeface="Calibri" pitchFamily="34" charset="-122"/>
                          <a:cs typeface="Calibri" pitchFamily="34" charset="-120"/>
                        </a:rPr>
                        <a:t>Correct / typed %</a:t>
                      </a:r>
                      <a:endParaRPr lang="en-US" sz="1400" dirty="0">
                        <a:latin typeface="Calibri" charset="0"/>
                        <a:ea typeface="Calibri" charset="0"/>
                        <a:cs typeface="Calibri"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300" b="1" dirty="0">
                          <a:solidFill>
                            <a:srgbClr val="1D2238"/>
                          </a:solidFill>
                          <a:latin typeface="Courier New" pitchFamily="34" charset="0"/>
                          <a:ea typeface="Courier New" pitchFamily="34" charset="-122"/>
                          <a:cs typeface="Courier New" pitchFamily="34" charset="-120"/>
                        </a:rPr>
                        <a:t>get_rating()</a:t>
                      </a:r>
                      <a:endParaRPr lang="en-US" sz="1300" dirty="0">
                        <a:latin typeface="Courier New" charset="0"/>
                        <a:ea typeface="Courier New" charset="0"/>
                        <a:cs typeface="Courier New"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400" dirty="0">
                          <a:solidFill>
                            <a:srgbClr val="1D2238"/>
                          </a:solidFill>
                          <a:latin typeface="Calibri" pitchFamily="34" charset="0"/>
                          <a:ea typeface="Calibri" pitchFamily="34" charset="-122"/>
                          <a:cs typeface="Calibri" pitchFamily="34" charset="-120"/>
                        </a:rPr>
                        <a:t>Beginner ... Master</a:t>
                      </a:r>
                      <a:endParaRPr lang="en-US" sz="1400" dirty="0">
                        <a:latin typeface="Calibri" charset="0"/>
                        <a:ea typeface="Calibri" charset="0"/>
                        <a:cs typeface="Calibri" charset="0"/>
                      </a:endParaRPr>
                    </a:p>
                  </a:txBody>
                  <a:tcPr marT="36576" marB="36576"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457200" y="4297680"/>
            <a:ext cx="4754880" cy="548640"/>
          </a:xfrm>
          <a:prstGeom prst="rect">
            <a:avLst/>
          </a:prstGeom>
          <a:noFill/>
          <a:ln/>
        </p:spPr>
        <p:txBody>
          <a:bodyPr wrap="square" lIns="0" tIns="0" rIns="0" bIns="0" rtlCol="0" anchor="ctr"/>
          <a:lstStyle/>
          <a:p>
            <a:pPr marL="0" indent="0">
              <a:buNone/>
            </a:pPr>
            <a:r>
              <a:rPr lang="en-US" sz="1200" b="1" dirty="0">
                <a:solidFill>
                  <a:srgbClr val="1D2238"/>
                </a:solidFill>
                <a:latin typeface="Courier New" pitchFamily="34" charset="0"/>
                <a:ea typeface="Courier New" pitchFamily="34" charset="-122"/>
                <a:cs typeface="Courier New" pitchFamily="34" charset="-120"/>
              </a:rPr>
              <a:t>WPM = (correct / 5) / (seconds / 60)</a:t>
            </a:r>
            <a:endParaRPr lang="en-US" sz="1200" dirty="0"/>
          </a:p>
          <a:p>
            <a:pPr marL="0" indent="0">
              <a:buNone/>
            </a:pPr>
            <a:r>
              <a:rPr lang="en-US" sz="1200" b="1" dirty="0">
                <a:solidFill>
                  <a:srgbClr val="1D2238"/>
                </a:solidFill>
                <a:latin typeface="Courier New" pitchFamily="34" charset="0"/>
                <a:ea typeface="Courier New" pitchFamily="34" charset="-122"/>
                <a:cs typeface="Courier New" pitchFamily="34" charset="-120"/>
              </a:rPr>
              <a:t>Accuracy = correct / typed x 100</a:t>
            </a:r>
            <a:endParaRPr lang="en-US" sz="1200" dirty="0"/>
          </a:p>
        </p:txBody>
      </p:sp>
      <p:sp>
        <p:nvSpPr>
          <p:cNvPr id="3" name="Shape 2"/>
          <p:cNvSpPr/>
          <p:nvPr/>
        </p:nvSpPr>
        <p:spPr>
          <a:xfrm>
            <a:off x="5486400" y="1097280"/>
            <a:ext cx="3200400" cy="3566160"/>
          </a:xfrm>
          <a:prstGeom prst="roundRect">
            <a:avLst>
              <a:gd name="adj" fmla="val 3429"/>
            </a:avLst>
          </a:prstGeom>
          <a:solidFill>
            <a:srgbClr val="11131C"/>
          </a:solidFill>
          <a:ln w="9525">
            <a:solidFill>
              <a:srgbClr val="DDE1EF"/>
            </a:solidFill>
            <a:prstDash val="solid"/>
          </a:ln>
          <a:effectLst>
            <a:outerShdw blurRad="101600" dist="25400" dir="5400000" algn="bl" rotWithShape="0">
              <a:srgbClr val="000000">
                <a:alpha val="12000"/>
              </a:srgbClr>
            </a:outerShdw>
          </a:effectLst>
        </p:spPr>
      </p:sp>
      <p:sp>
        <p:nvSpPr>
          <p:cNvPr id="6" name="Text 3"/>
          <p:cNvSpPr txBox="1"/>
          <p:nvPr/>
        </p:nvSpPr>
        <p:spPr>
          <a:xfrm>
            <a:off x="5715000" y="1234440"/>
            <a:ext cx="2743200" cy="365760"/>
          </a:xfrm>
          <a:prstGeom prst="rect">
            <a:avLst/>
          </a:prstGeom>
          <a:noFill/>
          <a:ln/>
        </p:spPr>
        <p:txBody>
          <a:bodyPr wrap="square" lIns="0" tIns="0" rIns="0" bIns="0" rtlCol="0" anchor="ctr"/>
          <a:lstStyle/>
          <a:p>
            <a:pPr marL="0" indent="0">
              <a:buNone/>
            </a:pPr>
            <a:r>
              <a:rPr lang="en-US" sz="1800" b="1" dirty="0">
                <a:solidFill>
                  <a:srgbClr val="7C8CFF"/>
                </a:solidFill>
                <a:latin typeface="Cambria" pitchFamily="34" charset="0"/>
                <a:ea typeface="Cambria" pitchFamily="34" charset="-122"/>
                <a:cs typeface="Cambria" pitchFamily="34" charset="-120"/>
              </a:rPr>
              <a:t>Worked example</a:t>
            </a:r>
            <a:endParaRPr lang="en-US" sz="1800" dirty="0"/>
          </a:p>
        </p:txBody>
      </p:sp>
      <p:sp>
        <p:nvSpPr>
          <p:cNvPr id="7" name="Text 4"/>
          <p:cNvSpPr txBox="1"/>
          <p:nvPr/>
        </p:nvSpPr>
        <p:spPr>
          <a:xfrm>
            <a:off x="5715000" y="1645920"/>
            <a:ext cx="2743200" cy="365760"/>
          </a:xfrm>
          <a:prstGeom prst="rect">
            <a:avLst/>
          </a:prstGeom>
          <a:noFill/>
          <a:ln/>
        </p:spPr>
        <p:txBody>
          <a:bodyPr wrap="square" lIns="0" tIns="0" rIns="0" bIns="0" rtlCol="0" anchor="ctr"/>
          <a:lstStyle/>
          <a:p>
            <a:pPr marL="0" indent="0">
              <a:buNone/>
            </a:pPr>
            <a:r>
              <a:rPr lang="en-US" sz="1400" dirty="0">
                <a:solidFill>
                  <a:srgbClr val="C9CFEA"/>
                </a:solidFill>
                <a:latin typeface="Calibri" pitchFamily="34" charset="0"/>
                <a:ea typeface="Calibri" pitchFamily="34" charset="-122"/>
                <a:cs typeface="Calibri" pitchFamily="34" charset="-120"/>
              </a:rPr>
              <a:t>57 correct of 60 typed in 30 s</a:t>
            </a:r>
            <a:endParaRPr lang="en-US" sz="1400" dirty="0"/>
          </a:p>
        </p:txBody>
      </p:sp>
      <p:sp>
        <p:nvSpPr>
          <p:cNvPr id="8" name="Text 5"/>
          <p:cNvSpPr txBox="1"/>
          <p:nvPr/>
        </p:nvSpPr>
        <p:spPr>
          <a:xfrm>
            <a:off x="5715000" y="2240280"/>
            <a:ext cx="2743200" cy="640080"/>
          </a:xfrm>
          <a:prstGeom prst="rect">
            <a:avLst/>
          </a:prstGeom>
          <a:noFill/>
          <a:ln/>
        </p:spPr>
        <p:txBody>
          <a:bodyPr wrap="square" lIns="0" tIns="0" rIns="0" bIns="0" rtlCol="0" anchor="ctr"/>
          <a:lstStyle/>
          <a:p>
            <a:pPr marL="0" indent="0">
              <a:buNone/>
            </a:pPr>
            <a:r>
              <a:rPr lang="en-US" sz="2400" b="1" dirty="0">
                <a:solidFill>
                  <a:srgbClr val="7C8CFF"/>
                </a:solidFill>
                <a:latin typeface="Cambria" pitchFamily="34" charset="0"/>
                <a:ea typeface="Cambria" pitchFamily="34" charset="-122"/>
                <a:cs typeface="Cambria" pitchFamily="34" charset="-120"/>
              </a:rPr>
              <a:t>22.8 WPM</a:t>
            </a:r>
            <a:endParaRPr lang="en-US" sz="2400" dirty="0"/>
          </a:p>
        </p:txBody>
      </p:sp>
      <p:sp>
        <p:nvSpPr>
          <p:cNvPr id="9" name="Text 6"/>
          <p:cNvSpPr txBox="1"/>
          <p:nvPr/>
        </p:nvSpPr>
        <p:spPr>
          <a:xfrm>
            <a:off x="5715000" y="3017520"/>
            <a:ext cx="2743200" cy="640080"/>
          </a:xfrm>
          <a:prstGeom prst="rect">
            <a:avLst/>
          </a:prstGeom>
          <a:noFill/>
          <a:ln/>
        </p:spPr>
        <p:txBody>
          <a:bodyPr wrap="square" lIns="0" tIns="0" rIns="0" bIns="0" rtlCol="0" anchor="ctr"/>
          <a:lstStyle/>
          <a:p>
            <a:pPr marL="0" indent="0">
              <a:buNone/>
            </a:pPr>
            <a:r>
              <a:rPr lang="en-US" sz="2400" b="1" dirty="0">
                <a:solidFill>
                  <a:srgbClr val="4ADE80"/>
                </a:solidFill>
                <a:latin typeface="Cambria" pitchFamily="34" charset="0"/>
                <a:ea typeface="Cambria" pitchFamily="34" charset="-122"/>
                <a:cs typeface="Cambria" pitchFamily="34" charset="-120"/>
              </a:rPr>
              <a:t>95% accuracy</a:t>
            </a:r>
            <a:endParaRPr lang="en-US" sz="2400" dirty="0"/>
          </a:p>
        </p:txBody>
      </p:sp>
      <p:sp>
        <p:nvSpPr>
          <p:cNvPr id="10" name="Text 7"/>
          <p:cNvSpPr txBox="1"/>
          <p:nvPr/>
        </p:nvSpPr>
        <p:spPr>
          <a:xfrm>
            <a:off x="5715000" y="3794760"/>
            <a:ext cx="2743200" cy="640080"/>
          </a:xfrm>
          <a:prstGeom prst="rect">
            <a:avLst/>
          </a:prstGeom>
          <a:noFill/>
          <a:ln/>
        </p:spPr>
        <p:txBody>
          <a:bodyPr wrap="square" lIns="0" tIns="0" rIns="0" bIns="0" rtlCol="0" anchor="ctr"/>
          <a:lstStyle/>
          <a:p>
            <a:pPr marL="0" indent="0">
              <a:buNone/>
            </a:pPr>
            <a:r>
              <a:rPr lang="en-US" sz="2400" b="1" dirty="0">
                <a:solidFill>
                  <a:srgbClr val="FBBF24"/>
                </a:solidFill>
                <a:latin typeface="Cambria" pitchFamily="34" charset="0"/>
                <a:ea typeface="Cambria" pitchFamily="34" charset="-122"/>
                <a:cs typeface="Cambria" pitchFamily="34" charset="-120"/>
              </a:rPr>
              <a:t>Level: Average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D2238"/>
                </a:solidFill>
                <a:latin typeface="Cambria" pitchFamily="34" charset="0"/>
                <a:ea typeface="Cambria" pitchFamily="34" charset="-122"/>
                <a:cs typeface="Cambria" pitchFamily="34" charset="-120"/>
              </a:rPr>
              <a:t>Features, Scope &amp; Conclusion</a:t>
            </a:r>
            <a:endParaRPr lang="en-US" sz="3200" dirty="0"/>
          </a:p>
        </p:txBody>
      </p:sp>
      <p:sp>
        <p:nvSpPr>
          <p:cNvPr id="3" name="Shape 1"/>
          <p:cNvSpPr/>
          <p:nvPr/>
        </p:nvSpPr>
        <p:spPr>
          <a:xfrm>
            <a:off x="457200" y="1097280"/>
            <a:ext cx="2651760" cy="3566160"/>
          </a:xfrm>
          <a:prstGeom prst="roundRect">
            <a:avLst>
              <a:gd name="adj" fmla="val 4138"/>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4" name="Text 2"/>
          <p:cNvSpPr txBox="1"/>
          <p:nvPr/>
        </p:nvSpPr>
        <p:spPr>
          <a:xfrm>
            <a:off x="640080" y="1188720"/>
            <a:ext cx="2286000" cy="365760"/>
          </a:xfrm>
          <a:prstGeom prst="rect">
            <a:avLst/>
          </a:prstGeom>
          <a:noFill/>
          <a:ln/>
        </p:spPr>
        <p:txBody>
          <a:bodyPr wrap="square" lIns="0" tIns="0" rIns="0" bIns="0" rtlCol="0" anchor="ctr"/>
          <a:lstStyle/>
          <a:p>
            <a:pPr marL="0" indent="0">
              <a:buNone/>
            </a:pPr>
            <a:r>
              <a:rPr lang="en-US" sz="1800" b="1" dirty="0">
                <a:solidFill>
                  <a:srgbClr val="4F5BD5"/>
                </a:solidFill>
                <a:latin typeface="Cambria" pitchFamily="34" charset="0"/>
                <a:ea typeface="Cambria" pitchFamily="34" charset="-122"/>
                <a:cs typeface="Cambria" pitchFamily="34" charset="-120"/>
              </a:rPr>
              <a:t>Features</a:t>
            </a:r>
            <a:endParaRPr lang="en-US" sz="1800" dirty="0"/>
          </a:p>
        </p:txBody>
      </p:sp>
      <p:sp>
        <p:nvSpPr>
          <p:cNvPr id="5" name="Text 3"/>
          <p:cNvSpPr txBox="1"/>
          <p:nvPr/>
        </p:nvSpPr>
        <p:spPr>
          <a:xfrm>
            <a:off x="640080" y="1645920"/>
            <a:ext cx="233172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Live WPM and accuracy</a:t>
            </a:r>
            <a:endParaRPr lang="en-US" sz="1400" dirty="0"/>
          </a:p>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Green / red character feedback</a:t>
            </a:r>
            <a:endParaRPr lang="en-US" sz="1400" dirty="0"/>
          </a:p>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30, 60, 90 s tests</a:t>
            </a:r>
            <a:endParaRPr lang="en-US" sz="1400" dirty="0"/>
          </a:p>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Paste blocked</a:t>
            </a:r>
            <a:endParaRPr lang="en-US" sz="1400" dirty="0"/>
          </a:p>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Dark / light themes, full screen</a:t>
            </a:r>
            <a:endParaRPr lang="en-US" sz="1400" dirty="0"/>
          </a:p>
        </p:txBody>
      </p:sp>
      <p:sp>
        <p:nvSpPr>
          <p:cNvPr id="6" name="Shape 4"/>
          <p:cNvSpPr/>
          <p:nvPr/>
        </p:nvSpPr>
        <p:spPr>
          <a:xfrm>
            <a:off x="3246120" y="1097280"/>
            <a:ext cx="2651760" cy="3566160"/>
          </a:xfrm>
          <a:prstGeom prst="roundRect">
            <a:avLst>
              <a:gd name="adj" fmla="val 4138"/>
            </a:avLst>
          </a:prstGeom>
          <a:solidFill>
            <a:srgbClr val="FFFFFF"/>
          </a:solidFill>
          <a:ln w="9525">
            <a:solidFill>
              <a:srgbClr val="DDE1EF"/>
            </a:solidFill>
            <a:prstDash val="solid"/>
          </a:ln>
          <a:effectLst>
            <a:outerShdw blurRad="101600" dist="25400" dir="5400000" algn="bl" rotWithShape="0">
              <a:srgbClr val="000000">
                <a:alpha val="12000"/>
              </a:srgbClr>
            </a:outerShdw>
          </a:effectLst>
        </p:spPr>
      </p:sp>
      <p:sp>
        <p:nvSpPr>
          <p:cNvPr id="7" name="Text 5"/>
          <p:cNvSpPr txBox="1"/>
          <p:nvPr/>
        </p:nvSpPr>
        <p:spPr>
          <a:xfrm>
            <a:off x="3429000" y="1188720"/>
            <a:ext cx="2286000" cy="365760"/>
          </a:xfrm>
          <a:prstGeom prst="rect">
            <a:avLst/>
          </a:prstGeom>
          <a:noFill/>
          <a:ln/>
        </p:spPr>
        <p:txBody>
          <a:bodyPr wrap="square" lIns="0" tIns="0" rIns="0" bIns="0" rtlCol="0" anchor="ctr"/>
          <a:lstStyle/>
          <a:p>
            <a:pPr marL="0" indent="0">
              <a:buNone/>
            </a:pPr>
            <a:r>
              <a:rPr lang="en-US" sz="1800" b="1" dirty="0">
                <a:solidFill>
                  <a:srgbClr val="D97706"/>
                </a:solidFill>
                <a:latin typeface="Cambria" pitchFamily="34" charset="0"/>
                <a:ea typeface="Cambria" pitchFamily="34" charset="-122"/>
                <a:cs typeface="Cambria" pitchFamily="34" charset="-120"/>
              </a:rPr>
              <a:t>Limits &amp; future</a:t>
            </a:r>
            <a:endParaRPr lang="en-US" sz="1800" dirty="0"/>
          </a:p>
        </p:txBody>
      </p:sp>
      <p:sp>
        <p:nvSpPr>
          <p:cNvPr id="8" name="Text 6"/>
          <p:cNvSpPr txBox="1"/>
          <p:nvPr/>
        </p:nvSpPr>
        <p:spPr>
          <a:xfrm>
            <a:off x="3429000" y="1645920"/>
            <a:ext cx="233172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Only 8 sentences</a:t>
            </a:r>
            <a:endParaRPr lang="en-US" sz="1400" dirty="0"/>
          </a:p>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Best score not saved</a:t>
            </a:r>
            <a:endParaRPr lang="en-US" sz="1400" dirty="0"/>
          </a:p>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Add file/API sentences</a:t>
            </a:r>
            <a:endParaRPr lang="en-US" sz="1400" dirty="0"/>
          </a:p>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Save history, graphs</a:t>
            </a:r>
            <a:endParaRPr lang="en-US" sz="1400" dirty="0"/>
          </a:p>
          <a:p>
            <a:pPr marL="342900" indent="-342900">
              <a:spcAft>
                <a:spcPts val="600"/>
              </a:spcAft>
              <a:buSzPct val="100000"/>
              <a:buChar char="•"/>
            </a:pPr>
            <a:r>
              <a:rPr lang="en-US" sz="1400" dirty="0">
                <a:solidFill>
                  <a:srgbClr val="1D2238"/>
                </a:solidFill>
                <a:latin typeface="Calibri" pitchFamily="34" charset="0"/>
                <a:ea typeface="Calibri" pitchFamily="34" charset="-122"/>
                <a:cs typeface="Calibri" pitchFamily="34" charset="-120"/>
              </a:rPr>
              <a:t>Difficulty levels</a:t>
            </a:r>
            <a:endParaRPr lang="en-US" sz="1400" dirty="0"/>
          </a:p>
        </p:txBody>
      </p:sp>
      <p:sp>
        <p:nvSpPr>
          <p:cNvPr id="9" name="Shape 7"/>
          <p:cNvSpPr/>
          <p:nvPr/>
        </p:nvSpPr>
        <p:spPr>
          <a:xfrm>
            <a:off x="6035040" y="1097280"/>
            <a:ext cx="2651760" cy="3566160"/>
          </a:xfrm>
          <a:prstGeom prst="roundRect">
            <a:avLst>
              <a:gd name="adj" fmla="val 4138"/>
            </a:avLst>
          </a:prstGeom>
          <a:solidFill>
            <a:srgbClr val="11131C"/>
          </a:solidFill>
          <a:ln w="9525">
            <a:solidFill>
              <a:srgbClr val="DDE1EF"/>
            </a:solidFill>
            <a:prstDash val="solid"/>
          </a:ln>
          <a:effectLst>
            <a:outerShdw blurRad="101600" dist="25400" dir="5400000" algn="bl" rotWithShape="0">
              <a:srgbClr val="000000">
                <a:alpha val="12000"/>
              </a:srgbClr>
            </a:outerShdw>
          </a:effectLst>
        </p:spPr>
      </p:sp>
      <p:sp>
        <p:nvSpPr>
          <p:cNvPr id="10" name="Text 8"/>
          <p:cNvSpPr txBox="1"/>
          <p:nvPr/>
        </p:nvSpPr>
        <p:spPr>
          <a:xfrm>
            <a:off x="6217920" y="1188720"/>
            <a:ext cx="2286000" cy="365760"/>
          </a:xfrm>
          <a:prstGeom prst="rect">
            <a:avLst/>
          </a:prstGeom>
          <a:noFill/>
          <a:ln/>
        </p:spPr>
        <p:txBody>
          <a:bodyPr wrap="square" lIns="0" tIns="0" rIns="0" bIns="0" rtlCol="0" anchor="ctr"/>
          <a:lstStyle/>
          <a:p>
            <a:pPr marL="0" indent="0">
              <a:buNone/>
            </a:pPr>
            <a:r>
              <a:rPr lang="en-US" sz="1800" b="1" dirty="0">
                <a:solidFill>
                  <a:srgbClr val="7C8CFF"/>
                </a:solidFill>
                <a:latin typeface="Cambria" pitchFamily="34" charset="0"/>
                <a:ea typeface="Cambria" pitchFamily="34" charset="-122"/>
                <a:cs typeface="Cambria" pitchFamily="34" charset="-120"/>
              </a:rPr>
              <a:t>Conclusion</a:t>
            </a:r>
            <a:endParaRPr lang="en-US" sz="1800" dirty="0"/>
          </a:p>
        </p:txBody>
      </p:sp>
      <p:sp>
        <p:nvSpPr>
          <p:cNvPr id="11" name="Text 9"/>
          <p:cNvSpPr txBox="1"/>
          <p:nvPr/>
        </p:nvSpPr>
        <p:spPr>
          <a:xfrm>
            <a:off x="6217920" y="1645920"/>
            <a:ext cx="2331720" cy="2011680"/>
          </a:xfrm>
          <a:prstGeom prst="rect">
            <a:avLst/>
          </a:prstGeom>
          <a:noFill/>
          <a:ln/>
        </p:spPr>
        <p:txBody>
          <a:bodyPr wrap="square" lIns="0" tIns="0" rIns="0" bIns="0" rtlCol="0" anchor="t"/>
          <a:lstStyle/>
          <a:p>
            <a:pPr marL="0" indent="0">
              <a:buNone/>
            </a:pPr>
            <a:r>
              <a:rPr lang="en-US" sz="1400" dirty="0">
                <a:solidFill>
                  <a:srgbClr val="E6E9F5"/>
                </a:solidFill>
                <a:latin typeface="Calibri" pitchFamily="34" charset="0"/>
                <a:ea typeface="Calibri" pitchFamily="34" charset="-122"/>
                <a:cs typeface="Calibri" pitchFamily="34" charset="-120"/>
              </a:rPr>
              <a:t>Strings, functions and Tkinter combine into a complete, themeable typing test with real-time feedback.</a:t>
            </a:r>
            <a:endParaRPr lang="en-US" sz="1400" dirty="0"/>
          </a:p>
        </p:txBody>
      </p:sp>
      <p:sp>
        <p:nvSpPr>
          <p:cNvPr id="12" name="Text 10"/>
          <p:cNvSpPr txBox="1"/>
          <p:nvPr/>
        </p:nvSpPr>
        <p:spPr>
          <a:xfrm>
            <a:off x="6217920" y="3931920"/>
            <a:ext cx="2331720" cy="457200"/>
          </a:xfrm>
          <a:prstGeom prst="rect">
            <a:avLst/>
          </a:prstGeom>
          <a:noFill/>
          <a:ln/>
        </p:spPr>
        <p:txBody>
          <a:bodyPr wrap="square" lIns="0" tIns="0" rIns="0" bIns="0" rtlCol="0" anchor="ctr"/>
          <a:lstStyle/>
          <a:p>
            <a:pPr marL="0" indent="0">
              <a:buNone/>
            </a:pPr>
            <a:r>
              <a:rPr lang="en-US" sz="2200" b="1" dirty="0">
                <a:solidFill>
                  <a:srgbClr val="7C8CFF"/>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387</Words>
  <Application>Microsoft Office PowerPoint</Application>
  <PresentationFormat>On-screen Show (16:9)</PresentationFormat>
  <Paragraphs>84</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Typing Speed Tester - Python Mini Project</dc:title>
  <dc:subject>PptxGenJS Presentation</dc:subject>
  <dc:creator>PptxGenJS</dc:creator>
  <cp:lastModifiedBy>chadotara ayush</cp:lastModifiedBy>
  <cp:revision>2</cp:revision>
  <dcterms:created xsi:type="dcterms:W3CDTF">2026-10-26T15:29:06Z</dcterms:created>
  <dcterms:modified xsi:type="dcterms:W3CDTF">2026-10-26T15:31:23Z</dcterms:modified>
</cp:coreProperties>
</file>